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60" r:id="rId5"/>
    <p:sldId id="264" r:id="rId6"/>
    <p:sldId id="265" r:id="rId7"/>
    <p:sldId id="266" r:id="rId8"/>
    <p:sldId id="267" r:id="rId9"/>
    <p:sldId id="268" r:id="rId10"/>
    <p:sldId id="261" r:id="rId11"/>
  </p:sldIdLst>
  <p:sldSz cx="18288000" cy="10287000"/>
  <p:notesSz cx="6858000" cy="9144000"/>
  <p:embeddedFontLs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  <p:bold r:id="rId16"/>
    </p:embeddedFont>
    <p:embeddedFont>
      <p:font typeface="Stinger Fit Bold" panose="020B0604020202020204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598" autoAdjust="0"/>
  </p:normalViewPr>
  <p:slideViewPr>
    <p:cSldViewPr>
      <p:cViewPr varScale="1">
        <p:scale>
          <a:sx n="42" d="100"/>
          <a:sy n="42" d="100"/>
        </p:scale>
        <p:origin x="780" y="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E4ABB70-F566-AFD2-E9AC-A83BBCA9A3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9E8DA7-F7D2-86C8-2B8E-B77F4F924B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56BDDB-76D5-4878-B862-4D77F178E509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577F61-0B1E-363D-1E12-B69A072EE7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CE1596-DCC7-8055-BB0E-E8F09A1AD86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7A414-AA84-4FE5-8F7E-B4317BB50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7659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DD0CF-9B08-4287-960D-4BDC6348848E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618B0-8E0D-4B86-AE7F-F06ACC69B9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5029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280B0-D633-4D1B-9885-13E64779E02A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D00D-63F0-412E-A354-9E5C15A52D2C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25A20-3045-4680-A93B-E3FF695BE277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2E31-7275-4A6C-9A93-04C7397B6449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0DBCD-64F6-4F98-B97D-3BE5DDA8C971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14F10-46F1-4497-A6C1-443B22061457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428A-814E-4D22-9319-EF884C7FA08A}" type="datetime1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5A035-FFE7-4DD2-B7DF-0A3450DD969E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1921-2E5F-4CE3-8FBF-3343C8A309E2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6400-FA93-4B7D-A26A-7A700E7BBA61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9E19-8626-4AE6-8EB3-CCC4F8AA4107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CBFC2-2674-4EFE-963E-3A049AA89825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7970" y="9258300"/>
            <a:ext cx="1322228" cy="4949229"/>
            <a:chOff x="0" y="0"/>
            <a:chExt cx="348241" cy="13035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8241" cy="1303501"/>
            </a:xfrm>
            <a:custGeom>
              <a:avLst/>
              <a:gdLst/>
              <a:ahLst/>
              <a:cxnLst/>
              <a:rect l="l" t="t" r="r" b="b"/>
              <a:pathLst>
                <a:path w="348241" h="1303501">
                  <a:moveTo>
                    <a:pt x="0" y="0"/>
                  </a:moveTo>
                  <a:lnTo>
                    <a:pt x="348241" y="0"/>
                  </a:lnTo>
                  <a:lnTo>
                    <a:pt x="348241" y="1303501"/>
                  </a:lnTo>
                  <a:lnTo>
                    <a:pt x="0" y="1303501"/>
                  </a:lnTo>
                  <a:close/>
                </a:path>
              </a:pathLst>
            </a:custGeom>
            <a:solidFill>
              <a:srgbClr val="646C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48241" cy="1351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V="1">
            <a:off x="13414478" y="-559004"/>
            <a:ext cx="5480898" cy="5574749"/>
          </a:xfrm>
          <a:custGeom>
            <a:avLst/>
            <a:gdLst/>
            <a:ahLst/>
            <a:cxnLst/>
            <a:rect l="l" t="t" r="r" b="b"/>
            <a:pathLst>
              <a:path w="5480898" h="5574749">
                <a:moveTo>
                  <a:pt x="0" y="5574749"/>
                </a:moveTo>
                <a:lnTo>
                  <a:pt x="5480898" y="5574749"/>
                </a:lnTo>
                <a:lnTo>
                  <a:pt x="5480898" y="0"/>
                </a:lnTo>
                <a:lnTo>
                  <a:pt x="0" y="0"/>
                </a:lnTo>
                <a:lnTo>
                  <a:pt x="0" y="55747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264310" y="2306293"/>
            <a:ext cx="13868299" cy="572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11049" b="1">
                <a:solidFill>
                  <a:srgbClr val="646CAB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Knowledge Graph Question Answering : Comparing RAG Approaches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46057" y="7340698"/>
            <a:ext cx="9136842" cy="2223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By-</a:t>
            </a:r>
          </a:p>
          <a:p>
            <a:pPr algn="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Aayush Singh (G26487644)</a:t>
            </a:r>
          </a:p>
          <a:p>
            <a:pPr algn="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Akash Raghavendra (G41868923)</a:t>
            </a:r>
          </a:p>
          <a:p>
            <a:pPr algn="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Vardh Jain (G24531843)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F541E-89CD-1368-BF82-65229441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37072" y="-3920529"/>
            <a:ext cx="1322228" cy="4949229"/>
            <a:chOff x="0" y="0"/>
            <a:chExt cx="348241" cy="13035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8241" cy="1303501"/>
            </a:xfrm>
            <a:custGeom>
              <a:avLst/>
              <a:gdLst/>
              <a:ahLst/>
              <a:cxnLst/>
              <a:rect l="l" t="t" r="r" b="b"/>
              <a:pathLst>
                <a:path w="348241" h="1303501">
                  <a:moveTo>
                    <a:pt x="0" y="0"/>
                  </a:moveTo>
                  <a:lnTo>
                    <a:pt x="348241" y="0"/>
                  </a:lnTo>
                  <a:lnTo>
                    <a:pt x="348241" y="1303501"/>
                  </a:lnTo>
                  <a:lnTo>
                    <a:pt x="0" y="1303501"/>
                  </a:lnTo>
                  <a:close/>
                </a:path>
              </a:pathLst>
            </a:custGeom>
            <a:solidFill>
              <a:srgbClr val="646C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48241" cy="1351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821353" y="1958400"/>
            <a:ext cx="1343794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200"/>
              </a:lnSpc>
            </a:pPr>
            <a:r>
              <a:rPr lang="en-US" sz="9000" b="1" dirty="0">
                <a:solidFill>
                  <a:srgbClr val="646CAB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Rag vs. </a:t>
            </a:r>
            <a:r>
              <a:rPr lang="en-US" sz="9000" b="1">
                <a:solidFill>
                  <a:srgbClr val="646CAB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Graph </a:t>
            </a:r>
            <a:r>
              <a:rPr lang="en-US" sz="9000" b="1" dirty="0">
                <a:solidFill>
                  <a:srgbClr val="646CAB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RAG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91691" y="3723149"/>
            <a:ext cx="4745381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1">
                <a:solidFill>
                  <a:srgbClr val="646CA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Graph RAG?</a:t>
            </a:r>
          </a:p>
          <a:p>
            <a:pPr algn="just">
              <a:lnSpc>
                <a:spcPts val="4900"/>
              </a:lnSpc>
            </a:pPr>
            <a:endParaRPr lang="en-US" sz="3500" b="1">
              <a:solidFill>
                <a:srgbClr val="646CAB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826316" y="5682124"/>
            <a:ext cx="6487591" cy="416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 enhanced version of RAG that uses a knowledge graph instead of just documents. </a:t>
            </a:r>
          </a:p>
          <a:p>
            <a:pPr marL="518158" lvl="1" indent="-259079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understands the relationships between entities, not just semantic similarity. </a:t>
            </a:r>
          </a:p>
          <a:p>
            <a:pPr marL="518158" lvl="1" indent="-259079" algn="just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enables multi-hop reasoning and provides explainable results by showing the answer's path. </a:t>
            </a:r>
          </a:p>
          <a:p>
            <a:pPr algn="just">
              <a:lnSpc>
                <a:spcPts val="3359"/>
              </a:lnSpc>
            </a:pPr>
            <a:endParaRPr lang="en-US" sz="2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3723149"/>
            <a:ext cx="7550964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646CA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RAG (Retrieval-Augmented Generation)?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7558" y="5795976"/>
            <a:ext cx="6487591" cy="433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just">
              <a:lnSpc>
                <a:spcPts val="3359"/>
              </a:lnSpc>
              <a:buFont typeface="Arial"/>
              <a:buChar char="•"/>
            </a:pPr>
            <a:r>
              <a:rPr lang="en-US" sz="2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method to improve Large Language Model (LLM) answers.</a:t>
            </a:r>
          </a:p>
          <a:p>
            <a:pPr marL="518158" lvl="1" indent="-259079" algn="just">
              <a:lnSpc>
                <a:spcPts val="3359"/>
              </a:lnSpc>
              <a:buFont typeface="Arial"/>
              <a:buChar char="•"/>
            </a:pPr>
            <a:r>
              <a:rPr lang="en-US" sz="2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first retrieves relevant documents from an external knowledge base based on a semantic similarity search. </a:t>
            </a:r>
          </a:p>
          <a:p>
            <a:pPr marL="518158" lvl="1" indent="-259079" algn="just">
              <a:lnSpc>
                <a:spcPts val="3359"/>
              </a:lnSpc>
              <a:buFont typeface="Arial"/>
              <a:buChar char="•"/>
            </a:pPr>
            <a:r>
              <a:rPr lang="en-US" sz="2399" dirty="0">
                <a:solidFill>
                  <a:srgbClr val="000000"/>
                </a:solidFill>
                <a:latin typeface="Canva Sans" panose="020B0604020202020204" charset="0"/>
                <a:ea typeface="Canva Sans"/>
                <a:cs typeface="Canva Sans"/>
                <a:sym typeface="Canva Sans"/>
              </a:rPr>
              <a:t>Then, it augments the LLM's prompt with this context, reducing hallucinations and addressing knowledge cutoffs. </a:t>
            </a:r>
          </a:p>
          <a:p>
            <a:pPr algn="just">
              <a:lnSpc>
                <a:spcPts val="3359"/>
              </a:lnSpc>
            </a:pPr>
            <a:endParaRPr lang="en-US" sz="2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1C37DF9-0B58-064D-EC43-2B3428C5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C8FFA2-9719-B75D-C605-9334D1835A49}"/>
              </a:ext>
            </a:extLst>
          </p:cNvPr>
          <p:cNvSpPr txBox="1"/>
          <p:nvPr/>
        </p:nvSpPr>
        <p:spPr>
          <a:xfrm>
            <a:off x="17360421" y="9456003"/>
            <a:ext cx="114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  <a:p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25800" y="9563363"/>
            <a:ext cx="1322228" cy="4949229"/>
            <a:chOff x="0" y="0"/>
            <a:chExt cx="348241" cy="13035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8241" cy="1303501"/>
            </a:xfrm>
            <a:custGeom>
              <a:avLst/>
              <a:gdLst/>
              <a:ahLst/>
              <a:cxnLst/>
              <a:rect l="l" t="t" r="r" b="b"/>
              <a:pathLst>
                <a:path w="348241" h="1303501">
                  <a:moveTo>
                    <a:pt x="0" y="0"/>
                  </a:moveTo>
                  <a:lnTo>
                    <a:pt x="348241" y="0"/>
                  </a:lnTo>
                  <a:lnTo>
                    <a:pt x="348241" y="1303501"/>
                  </a:lnTo>
                  <a:lnTo>
                    <a:pt x="0" y="1303501"/>
                  </a:lnTo>
                  <a:close/>
                </a:path>
              </a:pathLst>
            </a:custGeom>
            <a:solidFill>
              <a:srgbClr val="646C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48241" cy="1351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1663892"/>
            <a:ext cx="18288000" cy="5385183"/>
            <a:chOff x="0" y="0"/>
            <a:chExt cx="4816593" cy="14183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1418320"/>
            </a:xfrm>
            <a:custGeom>
              <a:avLst/>
              <a:gdLst/>
              <a:ahLst/>
              <a:cxnLst/>
              <a:rect l="l" t="t" r="r" b="b"/>
              <a:pathLst>
                <a:path w="4816592" h="1418320">
                  <a:moveTo>
                    <a:pt x="0" y="0"/>
                  </a:moveTo>
                  <a:lnTo>
                    <a:pt x="4816592" y="0"/>
                  </a:lnTo>
                  <a:lnTo>
                    <a:pt x="4816592" y="1418320"/>
                  </a:lnTo>
                  <a:lnTo>
                    <a:pt x="0" y="1418320"/>
                  </a:lnTo>
                  <a:close/>
                </a:path>
              </a:pathLst>
            </a:custGeom>
            <a:solidFill>
              <a:srgbClr val="646C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816593" cy="1465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166693" y="895350"/>
            <a:ext cx="11331510" cy="2113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34"/>
              </a:lnSpc>
            </a:pPr>
            <a:r>
              <a:rPr lang="en-US" sz="6024" b="1">
                <a:solidFill>
                  <a:srgbClr val="F1EEDD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Why Bother with Graphs? The Limitations of Plain RAG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9089" y="4209782"/>
            <a:ext cx="16729823" cy="581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Plain RAG Limitations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Surface-Level Understanding: Relies only on semantic similarity, missing explicit entity connections (e.g., 'who works for whom'). 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Struggles with Multi-Hop Questions: Fails on queries that require multiple reasoning steps (e.g., "What is the primary drug used to treat the disease caused by virus X?"). 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"Black Box" Answers: Provides no explainable reasoning path for how it arrived at an answer.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Graph RAG Strengths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Deep Reasoning: Traverses explicit, structured relationships between entities. 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Comparisons: Easily performs structured comparisons by accessing entity attributes (e.g., "Which movie is longer?"). 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Transparency: Can provide a clear reasoning path through the graph, making answers fully explainable.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3A5232-E8CF-48F3-16E6-22BC512AD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83DF17-5F3A-928C-9F33-CA86800EE4B4}"/>
              </a:ext>
            </a:extLst>
          </p:cNvPr>
          <p:cNvSpPr txBox="1"/>
          <p:nvPr/>
        </p:nvSpPr>
        <p:spPr>
          <a:xfrm>
            <a:off x="17539391" y="9563363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4084162" y="-2200807"/>
            <a:ext cx="6350276" cy="6459014"/>
          </a:xfrm>
          <a:custGeom>
            <a:avLst/>
            <a:gdLst/>
            <a:ahLst/>
            <a:cxnLst/>
            <a:rect l="l" t="t" r="r" b="b"/>
            <a:pathLst>
              <a:path w="6350276" h="6459014">
                <a:moveTo>
                  <a:pt x="0" y="6459014"/>
                </a:moveTo>
                <a:lnTo>
                  <a:pt x="6350276" y="6459014"/>
                </a:lnTo>
                <a:lnTo>
                  <a:pt x="6350276" y="0"/>
                </a:lnTo>
                <a:lnTo>
                  <a:pt x="0" y="0"/>
                </a:lnTo>
                <a:lnTo>
                  <a:pt x="0" y="645901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45544" y="1247775"/>
            <a:ext cx="1275903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0"/>
              </a:lnSpc>
            </a:pPr>
            <a:r>
              <a:rPr lang="en-US" sz="9000" b="1" dirty="0">
                <a:solidFill>
                  <a:srgbClr val="646CAB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Dataset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2831" y="2544068"/>
            <a:ext cx="11852969" cy="6149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PubMed: A database of medical articles with expert-curated, hierarchical </a:t>
            </a:r>
            <a:r>
              <a:rPr lang="en-US" sz="2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MeSH</a:t>
            </a:r>
            <a:r>
              <a:rPr lang="en-US" sz="2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metadata—perfect for a complex graph. We’ll be working on a subset –</a:t>
            </a:r>
          </a:p>
          <a:p>
            <a:pPr marL="996948" lvl="2" indent="-269874">
              <a:lnSpc>
                <a:spcPts val="3499"/>
              </a:lnSpc>
              <a:buFont typeface="Arial"/>
              <a:buChar char="•"/>
            </a:pPr>
            <a:r>
              <a:rPr lang="en-US" sz="2200" dirty="0" err="1">
                <a:solidFill>
                  <a:srgbClr val="000000"/>
                </a:solidFill>
                <a:latin typeface="Canva Sans" panose="020B0604020202020204" charset="0"/>
                <a:ea typeface="Canva Sans"/>
                <a:cs typeface="Canva Sans"/>
                <a:sym typeface="Canva Sans"/>
              </a:rPr>
              <a:t>PubMedQA</a:t>
            </a:r>
            <a:r>
              <a:rPr lang="en-US" sz="2200" dirty="0">
                <a:solidFill>
                  <a:srgbClr val="000000"/>
                </a:solidFill>
                <a:latin typeface="Canva Sans" panose="020B0604020202020204" charset="0"/>
                <a:ea typeface="Canva Sans"/>
                <a:cs typeface="Canva Sans"/>
                <a:sym typeface="Canva Sans"/>
              </a:rPr>
              <a:t>: </a:t>
            </a:r>
            <a:r>
              <a:rPr lang="en-IN" sz="2200" dirty="0">
                <a:latin typeface="Canva Sans" panose="020B0604020202020204" charset="0"/>
              </a:rPr>
              <a:t>A biomedical question-answering (QA) dataset, </a:t>
            </a:r>
            <a:r>
              <a:rPr lang="en-US" sz="2200" dirty="0">
                <a:latin typeface="Canva Sans" panose="020B0604020202020204" charset="0"/>
              </a:rPr>
              <a:t>answers a research question with a "yes," "no," or "maybe“, the question being the title of the biomedical research article itself (or a question derived from it)</a:t>
            </a:r>
            <a:endParaRPr lang="en-US" sz="2200" dirty="0">
              <a:solidFill>
                <a:srgbClr val="000000"/>
              </a:solidFill>
              <a:latin typeface="Canva Sans" panose="020B0604020202020204" charset="0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499"/>
              </a:lnSpc>
            </a:pPr>
            <a:r>
              <a:rPr lang="en-US" sz="2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Here is an example of how a single instance in the </a:t>
            </a:r>
            <a:r>
              <a:rPr lang="en-US" sz="2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PubMedQA</a:t>
            </a:r>
            <a:r>
              <a:rPr lang="en-US" sz="2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dataset works: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nva Sans" panose="020B0604020202020204" charset="0"/>
              </a:rPr>
              <a:t>Question (Paper's Title): "Is 8 hours of sleep per night associated with better memory recall?"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nva Sans" panose="020B0604020202020204" charset="0"/>
              </a:rPr>
              <a:t>Context (The abstract):We monitored 500 college students. Group A (250 students) slept an average of 7.5-8 hours per night. Group B (250 students) slept an average of 5-6 hours per night. Both groups were given the same memory test. Group A scored an average of 92% on the recall test, while Group B scored an average of 65%. The statistical p-value was less than 0.01."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nva Sans" panose="020B0604020202020204" charset="0"/>
              </a:rPr>
              <a:t>Answer (What the model must predict): "Yes"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499"/>
              </a:lnSpc>
            </a:pPr>
            <a:endParaRPr lang="en-US" sz="2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28700" y="-3920529"/>
            <a:ext cx="1393823" cy="4949229"/>
            <a:chOff x="0" y="0"/>
            <a:chExt cx="367097" cy="13035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7097" cy="1303501"/>
            </a:xfrm>
            <a:custGeom>
              <a:avLst/>
              <a:gdLst/>
              <a:ahLst/>
              <a:cxnLst/>
              <a:rect l="l" t="t" r="r" b="b"/>
              <a:pathLst>
                <a:path w="367097" h="1303501">
                  <a:moveTo>
                    <a:pt x="0" y="0"/>
                  </a:moveTo>
                  <a:lnTo>
                    <a:pt x="367097" y="0"/>
                  </a:lnTo>
                  <a:lnTo>
                    <a:pt x="367097" y="1303501"/>
                  </a:lnTo>
                  <a:lnTo>
                    <a:pt x="0" y="1303501"/>
                  </a:lnTo>
                  <a:close/>
                </a:path>
              </a:pathLst>
            </a:custGeom>
            <a:solidFill>
              <a:srgbClr val="646C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67097" cy="1351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pic>
        <p:nvPicPr>
          <p:cNvPr id="16" name="Picture 15" descr="A table with numbers and a number of pairs&#10;&#10;AI-generated content may be incorrect.">
            <a:extLst>
              <a:ext uri="{FF2B5EF4-FFF2-40B4-BE49-F238E27FC236}">
                <a16:creationId xmlns:a16="http://schemas.microsoft.com/office/drawing/2014/main" id="{9CCE82F1-9B2A-78FE-92B1-19EECDA76C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799" y="3145143"/>
            <a:ext cx="6034513" cy="288365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C7EE233-257E-D1F9-84EC-9B3CCA970A53}"/>
              </a:ext>
            </a:extLst>
          </p:cNvPr>
          <p:cNvSpPr txBox="1"/>
          <p:nvPr/>
        </p:nvSpPr>
        <p:spPr>
          <a:xfrm>
            <a:off x="13304574" y="6168204"/>
            <a:ext cx="4495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i="1" dirty="0" err="1"/>
              <a:t>PubMedQA</a:t>
            </a:r>
            <a:r>
              <a:rPr lang="en-IN" sz="2400" i="1" dirty="0"/>
              <a:t> dataset statistics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42C7F3-59A8-E757-4577-94DB0AF4F4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463"/>
          <a:stretch>
            <a:fillRect/>
          </a:stretch>
        </p:blipFill>
        <p:spPr>
          <a:xfrm>
            <a:off x="7211019" y="7742931"/>
            <a:ext cx="10981433" cy="15517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CAEAEC-8A4C-3596-EFF1-9F6A54DE8800}"/>
              </a:ext>
            </a:extLst>
          </p:cNvPr>
          <p:cNvSpPr txBox="1"/>
          <p:nvPr/>
        </p:nvSpPr>
        <p:spPr>
          <a:xfrm>
            <a:off x="10852080" y="9640229"/>
            <a:ext cx="4495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dirty="0" err="1"/>
              <a:t>Labeled</a:t>
            </a:r>
            <a:r>
              <a:rPr lang="en-IN" sz="2400" b="1" i="1" dirty="0"/>
              <a:t> </a:t>
            </a:r>
            <a:r>
              <a:rPr lang="en-IN" sz="2400" i="1" dirty="0"/>
              <a:t>Sample from PQA - L</a:t>
            </a:r>
            <a:endParaRPr lang="en-IN" sz="2400" b="1" i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432CF33-E7A2-3DB6-AB43-739A2A33D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41EFBD-1BC3-B6FD-EFA6-AB7A6CE02AFC}"/>
              </a:ext>
            </a:extLst>
          </p:cNvPr>
          <p:cNvSpPr txBox="1"/>
          <p:nvPr/>
        </p:nvSpPr>
        <p:spPr>
          <a:xfrm>
            <a:off x="17449800" y="9513518"/>
            <a:ext cx="114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</a:t>
            </a:r>
          </a:p>
          <a:p>
            <a:endParaRPr lang="en-IN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64E435-CF0A-F66B-4251-8AF525892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56B7EC-FAFD-62FF-2AC8-FE13B1454746}"/>
              </a:ext>
            </a:extLst>
          </p:cNvPr>
          <p:cNvSpPr/>
          <p:nvPr/>
        </p:nvSpPr>
        <p:spPr>
          <a:xfrm flipV="1">
            <a:off x="14084162" y="-2200807"/>
            <a:ext cx="6350276" cy="6459014"/>
          </a:xfrm>
          <a:custGeom>
            <a:avLst/>
            <a:gdLst/>
            <a:ahLst/>
            <a:cxnLst/>
            <a:rect l="l" t="t" r="r" b="b"/>
            <a:pathLst>
              <a:path w="6350276" h="6459014">
                <a:moveTo>
                  <a:pt x="0" y="6459014"/>
                </a:moveTo>
                <a:lnTo>
                  <a:pt x="6350276" y="6459014"/>
                </a:lnTo>
                <a:lnTo>
                  <a:pt x="6350276" y="0"/>
                </a:lnTo>
                <a:lnTo>
                  <a:pt x="0" y="0"/>
                </a:lnTo>
                <a:lnTo>
                  <a:pt x="0" y="645901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390AEAD-5342-BCF5-12B0-EFB5F0708178}"/>
              </a:ext>
            </a:extLst>
          </p:cNvPr>
          <p:cNvSpPr txBox="1"/>
          <p:nvPr/>
        </p:nvSpPr>
        <p:spPr>
          <a:xfrm>
            <a:off x="545544" y="1247775"/>
            <a:ext cx="1275903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0"/>
              </a:lnSpc>
            </a:pPr>
            <a:r>
              <a:rPr lang="en-US" sz="9000" b="1" dirty="0">
                <a:solidFill>
                  <a:srgbClr val="646CAB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RAG Pipeline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36E0D63-20D8-CB21-4B05-C5F82FAAB4EC}"/>
              </a:ext>
            </a:extLst>
          </p:cNvPr>
          <p:cNvGrpSpPr/>
          <p:nvPr/>
        </p:nvGrpSpPr>
        <p:grpSpPr>
          <a:xfrm>
            <a:off x="1028700" y="-3920529"/>
            <a:ext cx="1393823" cy="4949229"/>
            <a:chOff x="0" y="0"/>
            <a:chExt cx="367097" cy="130350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19B7D83-E6F3-67F4-163B-3F660B613AEE}"/>
                </a:ext>
              </a:extLst>
            </p:cNvPr>
            <p:cNvSpPr/>
            <p:nvPr/>
          </p:nvSpPr>
          <p:spPr>
            <a:xfrm>
              <a:off x="0" y="0"/>
              <a:ext cx="367097" cy="1303501"/>
            </a:xfrm>
            <a:custGeom>
              <a:avLst/>
              <a:gdLst/>
              <a:ahLst/>
              <a:cxnLst/>
              <a:rect l="l" t="t" r="r" b="b"/>
              <a:pathLst>
                <a:path w="367097" h="1303501">
                  <a:moveTo>
                    <a:pt x="0" y="0"/>
                  </a:moveTo>
                  <a:lnTo>
                    <a:pt x="367097" y="0"/>
                  </a:lnTo>
                  <a:lnTo>
                    <a:pt x="367097" y="1303501"/>
                  </a:lnTo>
                  <a:lnTo>
                    <a:pt x="0" y="1303501"/>
                  </a:lnTo>
                  <a:close/>
                </a:path>
              </a:pathLst>
            </a:custGeom>
            <a:solidFill>
              <a:srgbClr val="646C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0B1E66A-182F-0AD0-03AF-3E9798F0D1C1}"/>
                </a:ext>
              </a:extLst>
            </p:cNvPr>
            <p:cNvSpPr txBox="1"/>
            <p:nvPr/>
          </p:nvSpPr>
          <p:spPr>
            <a:xfrm>
              <a:off x="0" y="-47625"/>
              <a:ext cx="367097" cy="1351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Flowchart: Magnetic Disk 7">
            <a:extLst>
              <a:ext uri="{FF2B5EF4-FFF2-40B4-BE49-F238E27FC236}">
                <a16:creationId xmlns:a16="http://schemas.microsoft.com/office/drawing/2014/main" id="{5DE9F04A-FDA6-BDF5-0032-6B3E68681A0F}"/>
              </a:ext>
            </a:extLst>
          </p:cNvPr>
          <p:cNvSpPr/>
          <p:nvPr/>
        </p:nvSpPr>
        <p:spPr>
          <a:xfrm>
            <a:off x="1028700" y="3390900"/>
            <a:ext cx="1866900" cy="2057400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Knowledge Base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PubmedQA</a:t>
            </a:r>
            <a:r>
              <a:rPr lang="en-US" dirty="0"/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3EC4C6-5D2E-A94E-C804-AF621B36B8D3}"/>
              </a:ext>
            </a:extLst>
          </p:cNvPr>
          <p:cNvSpPr/>
          <p:nvPr/>
        </p:nvSpPr>
        <p:spPr>
          <a:xfrm>
            <a:off x="4876800" y="3619500"/>
            <a:ext cx="2514600" cy="15240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Preprocess Documents</a:t>
            </a:r>
          </a:p>
          <a:p>
            <a:pPr algn="ctr"/>
            <a:r>
              <a:rPr lang="en-US" dirty="0"/>
              <a:t>(Extract Text, Remove Metadata)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17E485-C756-6C57-E0F6-8B5F09C16C0B}"/>
              </a:ext>
            </a:extLst>
          </p:cNvPr>
          <p:cNvSpPr/>
          <p:nvPr/>
        </p:nvSpPr>
        <p:spPr>
          <a:xfrm>
            <a:off x="9019040" y="3122038"/>
            <a:ext cx="2514599" cy="537686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 Model</a:t>
            </a:r>
          </a:p>
          <a:p>
            <a:pPr algn="ctr"/>
            <a:endParaRPr lang="en-US" dirty="0"/>
          </a:p>
          <a:p>
            <a:pPr algn="ctr"/>
            <a:r>
              <a:rPr lang="en-US" b="1" dirty="0"/>
              <a:t>(</a:t>
            </a:r>
            <a:r>
              <a:rPr lang="en-US" b="1" dirty="0" err="1"/>
              <a:t>SentenceTransformer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F1A22A-D650-DD2B-FB9D-E78F410AEE2B}"/>
              </a:ext>
            </a:extLst>
          </p:cNvPr>
          <p:cNvSpPr/>
          <p:nvPr/>
        </p:nvSpPr>
        <p:spPr>
          <a:xfrm>
            <a:off x="15470369" y="7707239"/>
            <a:ext cx="2667000" cy="16764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endParaRPr lang="en-US" dirty="0"/>
          </a:p>
          <a:p>
            <a:pPr algn="ctr"/>
            <a:r>
              <a:rPr lang="en-US" b="1" dirty="0"/>
              <a:t>DeepSeek-R1-Distill-Llama-8B (4-bit quantized)</a:t>
            </a:r>
          </a:p>
        </p:txBody>
      </p:sp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8353F808-7C9E-8E84-CD71-4968BB5DDE5D}"/>
              </a:ext>
            </a:extLst>
          </p:cNvPr>
          <p:cNvSpPr/>
          <p:nvPr/>
        </p:nvSpPr>
        <p:spPr>
          <a:xfrm>
            <a:off x="12922492" y="3390900"/>
            <a:ext cx="2063088" cy="4316339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DB</a:t>
            </a:r>
          </a:p>
          <a:p>
            <a:pPr algn="ctr"/>
            <a:endParaRPr lang="en-US" dirty="0"/>
          </a:p>
          <a:p>
            <a:pPr algn="ctr"/>
            <a:r>
              <a:rPr lang="en-US" b="1" dirty="0"/>
              <a:t>FAISS</a:t>
            </a:r>
          </a:p>
        </p:txBody>
      </p:sp>
      <p:sp>
        <p:nvSpPr>
          <p:cNvPr id="19" name="Frame 18">
            <a:extLst>
              <a:ext uri="{FF2B5EF4-FFF2-40B4-BE49-F238E27FC236}">
                <a16:creationId xmlns:a16="http://schemas.microsoft.com/office/drawing/2014/main" id="{E11FBBDB-AB7F-C3D0-0343-37680BB9EE26}"/>
              </a:ext>
            </a:extLst>
          </p:cNvPr>
          <p:cNvSpPr/>
          <p:nvPr/>
        </p:nvSpPr>
        <p:spPr>
          <a:xfrm>
            <a:off x="4724400" y="6502687"/>
            <a:ext cx="2667000" cy="1371600"/>
          </a:xfrm>
          <a:prstGeom prst="fram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201F6B-97D6-4708-32BD-EAEB1FC24D31}"/>
              </a:ext>
            </a:extLst>
          </p:cNvPr>
          <p:cNvSpPr txBox="1"/>
          <p:nvPr/>
        </p:nvSpPr>
        <p:spPr>
          <a:xfrm>
            <a:off x="5112756" y="6896100"/>
            <a:ext cx="1809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Web UI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73DA61-9708-E18B-8EC9-664EE7D67CB6}"/>
              </a:ext>
            </a:extLst>
          </p:cNvPr>
          <p:cNvSpPr txBox="1"/>
          <p:nvPr/>
        </p:nvSpPr>
        <p:spPr>
          <a:xfrm>
            <a:off x="762000" y="28575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Document Ingestion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746A34-D552-AFE5-DFEC-71ABDB59328B}"/>
              </a:ext>
            </a:extLst>
          </p:cNvPr>
          <p:cNvSpPr txBox="1"/>
          <p:nvPr/>
        </p:nvSpPr>
        <p:spPr>
          <a:xfrm>
            <a:off x="483490" y="5981823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User Query, Retrieval, and Response Generation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68037612-061D-FBD1-8E6B-E532F8AEB5E8}"/>
              </a:ext>
            </a:extLst>
          </p:cNvPr>
          <p:cNvCxnSpPr>
            <a:stCxn id="11" idx="2"/>
            <a:endCxn id="19" idx="2"/>
          </p:cNvCxnSpPr>
          <p:nvPr/>
        </p:nvCxnSpPr>
        <p:spPr>
          <a:xfrm rot="5400000" flipH="1">
            <a:off x="10676209" y="3255979"/>
            <a:ext cx="1509352" cy="10745969"/>
          </a:xfrm>
          <a:prstGeom prst="bentConnector3">
            <a:avLst>
              <a:gd name="adj1" fmla="val -1514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8D8D642-CCAB-D7C1-44C4-93E2D19F7F6F}"/>
              </a:ext>
            </a:extLst>
          </p:cNvPr>
          <p:cNvCxnSpPr>
            <a:cxnSpLocks/>
          </p:cNvCxnSpPr>
          <p:nvPr/>
        </p:nvCxnSpPr>
        <p:spPr>
          <a:xfrm>
            <a:off x="11533639" y="4351638"/>
            <a:ext cx="13888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A392830-D343-06E7-CF9C-C83654FE3E0F}"/>
              </a:ext>
            </a:extLst>
          </p:cNvPr>
          <p:cNvCxnSpPr>
            <a:stCxn id="19" idx="3"/>
          </p:cNvCxnSpPr>
          <p:nvPr/>
        </p:nvCxnSpPr>
        <p:spPr>
          <a:xfrm>
            <a:off x="7391400" y="7188487"/>
            <a:ext cx="1627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6AB7D99F-2D06-3536-8A91-0564CF82A8F7}"/>
              </a:ext>
            </a:extLst>
          </p:cNvPr>
          <p:cNvCxnSpPr/>
          <p:nvPr/>
        </p:nvCxnSpPr>
        <p:spPr>
          <a:xfrm>
            <a:off x="11533639" y="7012049"/>
            <a:ext cx="1388853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1EE5E479-F2BB-918C-157C-917F04AEB7B8}"/>
              </a:ext>
            </a:extLst>
          </p:cNvPr>
          <p:cNvCxnSpPr>
            <a:stCxn id="12" idx="4"/>
            <a:endCxn id="11" idx="0"/>
          </p:cNvCxnSpPr>
          <p:nvPr/>
        </p:nvCxnSpPr>
        <p:spPr>
          <a:xfrm>
            <a:off x="14985580" y="5549070"/>
            <a:ext cx="1818289" cy="21581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Graphic 43" descr="User">
            <a:extLst>
              <a:ext uri="{FF2B5EF4-FFF2-40B4-BE49-F238E27FC236}">
                <a16:creationId xmlns:a16="http://schemas.microsoft.com/office/drawing/2014/main" id="{531D9322-185F-09DD-0673-A1F6154D24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788" y="6628154"/>
            <a:ext cx="1846053" cy="1846053"/>
          </a:xfrm>
          <a:prstGeom prst="rect">
            <a:avLst/>
          </a:prstGeom>
        </p:spPr>
      </p:pic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6ACBE95-F4D9-D0ED-517A-8830165851E5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311886" y="7188487"/>
            <a:ext cx="2412514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62A531D-7A4D-E74D-489B-33A67A85F537}"/>
              </a:ext>
            </a:extLst>
          </p:cNvPr>
          <p:cNvSpPr txBox="1"/>
          <p:nvPr/>
        </p:nvSpPr>
        <p:spPr>
          <a:xfrm>
            <a:off x="7391400" y="7296209"/>
            <a:ext cx="1315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User Query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BDBB8A-D5F2-883A-19B0-86C1323E5A81}"/>
              </a:ext>
            </a:extLst>
          </p:cNvPr>
          <p:cNvSpPr txBox="1"/>
          <p:nvPr/>
        </p:nvSpPr>
        <p:spPr>
          <a:xfrm>
            <a:off x="11655560" y="7123583"/>
            <a:ext cx="131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Embedded Query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3C611C0-5109-2237-F569-3C0773CB0AF1}"/>
              </a:ext>
            </a:extLst>
          </p:cNvPr>
          <p:cNvSpPr txBox="1"/>
          <p:nvPr/>
        </p:nvSpPr>
        <p:spPr>
          <a:xfrm>
            <a:off x="11631086" y="3569864"/>
            <a:ext cx="1315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Document Embeddings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E53F5E-2892-35A6-9EC3-B46E2339276F}"/>
              </a:ext>
            </a:extLst>
          </p:cNvPr>
          <p:cNvSpPr txBox="1"/>
          <p:nvPr/>
        </p:nvSpPr>
        <p:spPr>
          <a:xfrm>
            <a:off x="14985580" y="4482868"/>
            <a:ext cx="3302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Prompt + Query + Retrieved Text </a:t>
            </a:r>
          </a:p>
          <a:p>
            <a:r>
              <a:rPr lang="en-US" sz="1700" i="1" dirty="0"/>
              <a:t>(Semantic Similarity Search via Inner Product)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F0170F2-169B-102B-F791-EAAE8CB08C2A}"/>
              </a:ext>
            </a:extLst>
          </p:cNvPr>
          <p:cNvSpPr txBox="1"/>
          <p:nvPr/>
        </p:nvSpPr>
        <p:spPr>
          <a:xfrm>
            <a:off x="9601200" y="9789026"/>
            <a:ext cx="3107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Generated Response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47BB5EE-0D85-AFE9-6BB4-2BDB5CF4602F}"/>
              </a:ext>
            </a:extLst>
          </p:cNvPr>
          <p:cNvCxnSpPr>
            <a:cxnSpLocks/>
            <a:stCxn id="8" idx="4"/>
            <a:endCxn id="9" idx="1"/>
          </p:cNvCxnSpPr>
          <p:nvPr/>
        </p:nvCxnSpPr>
        <p:spPr>
          <a:xfrm flipV="1">
            <a:off x="2895600" y="4381500"/>
            <a:ext cx="1981200" cy="3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453A88F-848D-7585-82BB-FE7ACC7C25A3}"/>
              </a:ext>
            </a:extLst>
          </p:cNvPr>
          <p:cNvCxnSpPr>
            <a:stCxn id="9" idx="3"/>
          </p:cNvCxnSpPr>
          <p:nvPr/>
        </p:nvCxnSpPr>
        <p:spPr>
          <a:xfrm>
            <a:off x="7391400" y="4381500"/>
            <a:ext cx="1627640" cy="3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3B90833-79AB-3EB6-8AB5-263C66376D41}"/>
              </a:ext>
            </a:extLst>
          </p:cNvPr>
          <p:cNvSpPr txBox="1"/>
          <p:nvPr/>
        </p:nvSpPr>
        <p:spPr>
          <a:xfrm>
            <a:off x="7600714" y="3893029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Documents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7E2BD5-11E9-0184-13AC-E43E665CEDCA}"/>
              </a:ext>
            </a:extLst>
          </p:cNvPr>
          <p:cNvSpPr txBox="1"/>
          <p:nvPr/>
        </p:nvSpPr>
        <p:spPr>
          <a:xfrm>
            <a:off x="3133217" y="4031529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Documents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E360E-C6E3-EEFE-C9E8-F2D36082C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5D82C6-4748-673D-3195-EEFF32F3F1B4}"/>
              </a:ext>
            </a:extLst>
          </p:cNvPr>
          <p:cNvSpPr txBox="1"/>
          <p:nvPr/>
        </p:nvSpPr>
        <p:spPr>
          <a:xfrm>
            <a:off x="17565869" y="9558193"/>
            <a:ext cx="114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09112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D2452-B632-4223-BBCF-8E49E6C2C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E1C5BF-FCE5-5811-13B9-2AECEBA99994}"/>
              </a:ext>
            </a:extLst>
          </p:cNvPr>
          <p:cNvSpPr/>
          <p:nvPr/>
        </p:nvSpPr>
        <p:spPr>
          <a:xfrm flipV="1">
            <a:off x="14084162" y="-2200807"/>
            <a:ext cx="6350276" cy="6459014"/>
          </a:xfrm>
          <a:custGeom>
            <a:avLst/>
            <a:gdLst/>
            <a:ahLst/>
            <a:cxnLst/>
            <a:rect l="l" t="t" r="r" b="b"/>
            <a:pathLst>
              <a:path w="6350276" h="6459014">
                <a:moveTo>
                  <a:pt x="0" y="6459014"/>
                </a:moveTo>
                <a:lnTo>
                  <a:pt x="6350276" y="6459014"/>
                </a:lnTo>
                <a:lnTo>
                  <a:pt x="6350276" y="0"/>
                </a:lnTo>
                <a:lnTo>
                  <a:pt x="0" y="0"/>
                </a:lnTo>
                <a:lnTo>
                  <a:pt x="0" y="645901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BAA5F86-F299-C1AE-E9C5-9BB49F9E0038}"/>
              </a:ext>
            </a:extLst>
          </p:cNvPr>
          <p:cNvSpPr txBox="1"/>
          <p:nvPr/>
        </p:nvSpPr>
        <p:spPr>
          <a:xfrm>
            <a:off x="545544" y="1247775"/>
            <a:ext cx="1275903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0"/>
              </a:lnSpc>
            </a:pPr>
            <a:r>
              <a:rPr lang="en-US" sz="9000" b="1" dirty="0">
                <a:solidFill>
                  <a:srgbClr val="646CAB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Results – Plain RAG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8D216EA-D977-CB01-CC1B-238D3E50A5C1}"/>
              </a:ext>
            </a:extLst>
          </p:cNvPr>
          <p:cNvGrpSpPr/>
          <p:nvPr/>
        </p:nvGrpSpPr>
        <p:grpSpPr>
          <a:xfrm>
            <a:off x="1028700" y="-3920529"/>
            <a:ext cx="1393823" cy="4949229"/>
            <a:chOff x="0" y="0"/>
            <a:chExt cx="367097" cy="130350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0F22F60-2C7A-02A8-22E2-875647357532}"/>
                </a:ext>
              </a:extLst>
            </p:cNvPr>
            <p:cNvSpPr/>
            <p:nvPr/>
          </p:nvSpPr>
          <p:spPr>
            <a:xfrm>
              <a:off x="0" y="0"/>
              <a:ext cx="367097" cy="1303501"/>
            </a:xfrm>
            <a:custGeom>
              <a:avLst/>
              <a:gdLst/>
              <a:ahLst/>
              <a:cxnLst/>
              <a:rect l="l" t="t" r="r" b="b"/>
              <a:pathLst>
                <a:path w="367097" h="1303501">
                  <a:moveTo>
                    <a:pt x="0" y="0"/>
                  </a:moveTo>
                  <a:lnTo>
                    <a:pt x="367097" y="0"/>
                  </a:lnTo>
                  <a:lnTo>
                    <a:pt x="367097" y="1303501"/>
                  </a:lnTo>
                  <a:lnTo>
                    <a:pt x="0" y="1303501"/>
                  </a:lnTo>
                  <a:close/>
                </a:path>
              </a:pathLst>
            </a:custGeom>
            <a:solidFill>
              <a:srgbClr val="646C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FC56304-BEC9-63F1-3EAB-94AC7C61520B}"/>
                </a:ext>
              </a:extLst>
            </p:cNvPr>
            <p:cNvSpPr txBox="1"/>
            <p:nvPr/>
          </p:nvSpPr>
          <p:spPr>
            <a:xfrm>
              <a:off x="0" y="-47625"/>
              <a:ext cx="367097" cy="1351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3720D1B-AE99-60B7-CEDB-7D18F44D7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4882598"/>
            <a:ext cx="6560990" cy="43591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505FA1-3A00-5879-B1BC-426F2B22BAFE}"/>
              </a:ext>
            </a:extLst>
          </p:cNvPr>
          <p:cNvSpPr txBox="1"/>
          <p:nvPr/>
        </p:nvSpPr>
        <p:spPr>
          <a:xfrm>
            <a:off x="327023" y="2707709"/>
            <a:ext cx="14912977" cy="2303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2774" lvl="1" indent="-342900" algn="l">
              <a:lnSpc>
                <a:spcPts val="3499"/>
              </a:lnSpc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Accuracy – 58%</a:t>
            </a:r>
          </a:p>
          <a:p>
            <a:pPr marL="612774" lvl="1" indent="-342900" algn="l">
              <a:lnSpc>
                <a:spcPts val="3499"/>
              </a:lnSpc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Significant False Positive Rate: The model incorrectly predicted 'Yes' for ~47% of the 'No' cases (25 out of 53 errors) and misclassifying 69% of 'Maybe' samples as 'Yes' (24 out of 35).</a:t>
            </a:r>
          </a:p>
          <a:p>
            <a:pPr marL="612774" lvl="1" indent="-342900" algn="l">
              <a:lnSpc>
                <a:spcPts val="3499"/>
              </a:lnSpc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Plain RAG struggles with ambiguity and nuance</a:t>
            </a:r>
          </a:p>
          <a:p>
            <a:pPr marL="612774" lvl="1" indent="-342900" algn="l">
              <a:lnSpc>
                <a:spcPts val="3499"/>
              </a:lnSpc>
              <a:buFontTx/>
              <a:buChar char="-"/>
            </a:pPr>
            <a:endParaRPr lang="en-US" sz="24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F7CE87-5218-54AA-497F-D7BDDFB9F4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199" y="4620011"/>
            <a:ext cx="5489025" cy="462172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88336-61F3-7D08-2180-557FF873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1AF91-84C9-DC4C-BEFE-6FC78E81BB1F}"/>
              </a:ext>
            </a:extLst>
          </p:cNvPr>
          <p:cNvSpPr txBox="1"/>
          <p:nvPr/>
        </p:nvSpPr>
        <p:spPr>
          <a:xfrm>
            <a:off x="17449800" y="9563100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98808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C3A5B-3C33-71E3-6675-61E3FE38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927CD8-10CF-CE34-4A41-A103384254F2}"/>
              </a:ext>
            </a:extLst>
          </p:cNvPr>
          <p:cNvSpPr/>
          <p:nvPr/>
        </p:nvSpPr>
        <p:spPr>
          <a:xfrm flipV="1">
            <a:off x="14748318" y="-2908756"/>
            <a:ext cx="6350276" cy="6459014"/>
          </a:xfrm>
          <a:custGeom>
            <a:avLst/>
            <a:gdLst/>
            <a:ahLst/>
            <a:cxnLst/>
            <a:rect l="l" t="t" r="r" b="b"/>
            <a:pathLst>
              <a:path w="6350276" h="6459014">
                <a:moveTo>
                  <a:pt x="0" y="6459014"/>
                </a:moveTo>
                <a:lnTo>
                  <a:pt x="6350276" y="6459014"/>
                </a:lnTo>
                <a:lnTo>
                  <a:pt x="6350276" y="0"/>
                </a:lnTo>
                <a:lnTo>
                  <a:pt x="0" y="0"/>
                </a:lnTo>
                <a:lnTo>
                  <a:pt x="0" y="645901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CA0EEDD-A170-6217-08B1-41B0400E6098}"/>
              </a:ext>
            </a:extLst>
          </p:cNvPr>
          <p:cNvSpPr txBox="1"/>
          <p:nvPr/>
        </p:nvSpPr>
        <p:spPr>
          <a:xfrm>
            <a:off x="545544" y="1247775"/>
            <a:ext cx="1275903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0"/>
              </a:lnSpc>
            </a:pPr>
            <a:r>
              <a:rPr lang="en-US" sz="9000" b="1" dirty="0" err="1">
                <a:solidFill>
                  <a:srgbClr val="646CAB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GraphRAG</a:t>
            </a:r>
            <a:r>
              <a:rPr lang="en-US" sz="9000" b="1" dirty="0">
                <a:solidFill>
                  <a:srgbClr val="646CAB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 Pipeline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BF225527-1ADF-C5F0-5E3D-12A010A05F34}"/>
              </a:ext>
            </a:extLst>
          </p:cNvPr>
          <p:cNvGrpSpPr/>
          <p:nvPr/>
        </p:nvGrpSpPr>
        <p:grpSpPr>
          <a:xfrm>
            <a:off x="1028700" y="-3920529"/>
            <a:ext cx="1393823" cy="4949229"/>
            <a:chOff x="0" y="0"/>
            <a:chExt cx="367097" cy="130350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6C5864F-9354-364F-E1D6-3A8DF3CAB356}"/>
                </a:ext>
              </a:extLst>
            </p:cNvPr>
            <p:cNvSpPr/>
            <p:nvPr/>
          </p:nvSpPr>
          <p:spPr>
            <a:xfrm>
              <a:off x="0" y="0"/>
              <a:ext cx="367097" cy="1303501"/>
            </a:xfrm>
            <a:custGeom>
              <a:avLst/>
              <a:gdLst/>
              <a:ahLst/>
              <a:cxnLst/>
              <a:rect l="l" t="t" r="r" b="b"/>
              <a:pathLst>
                <a:path w="367097" h="1303501">
                  <a:moveTo>
                    <a:pt x="0" y="0"/>
                  </a:moveTo>
                  <a:lnTo>
                    <a:pt x="367097" y="0"/>
                  </a:lnTo>
                  <a:lnTo>
                    <a:pt x="367097" y="1303501"/>
                  </a:lnTo>
                  <a:lnTo>
                    <a:pt x="0" y="1303501"/>
                  </a:lnTo>
                  <a:close/>
                </a:path>
              </a:pathLst>
            </a:custGeom>
            <a:solidFill>
              <a:srgbClr val="646C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3BE178A-614C-CEA5-7478-7F3551794858}"/>
                </a:ext>
              </a:extLst>
            </p:cNvPr>
            <p:cNvSpPr txBox="1"/>
            <p:nvPr/>
          </p:nvSpPr>
          <p:spPr>
            <a:xfrm>
              <a:off x="0" y="-47625"/>
              <a:ext cx="367097" cy="1351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Flowchart: Magnetic Disk 7">
            <a:extLst>
              <a:ext uri="{FF2B5EF4-FFF2-40B4-BE49-F238E27FC236}">
                <a16:creationId xmlns:a16="http://schemas.microsoft.com/office/drawing/2014/main" id="{CD821570-01EF-B9BF-C230-C92444F60E13}"/>
              </a:ext>
            </a:extLst>
          </p:cNvPr>
          <p:cNvSpPr/>
          <p:nvPr/>
        </p:nvSpPr>
        <p:spPr>
          <a:xfrm>
            <a:off x="9865384" y="2401169"/>
            <a:ext cx="1866900" cy="2057400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Knowledge Base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PubMedQA</a:t>
            </a:r>
            <a:r>
              <a:rPr lang="en-US" dirty="0"/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D958F5-3F83-382B-2C0B-48C91FEF76F8}"/>
              </a:ext>
            </a:extLst>
          </p:cNvPr>
          <p:cNvSpPr/>
          <p:nvPr/>
        </p:nvSpPr>
        <p:spPr>
          <a:xfrm>
            <a:off x="5080559" y="2667869"/>
            <a:ext cx="2432712" cy="15240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Knowledge Graph</a:t>
            </a:r>
          </a:p>
          <a:p>
            <a:pPr algn="ctr"/>
            <a:r>
              <a:rPr lang="en-US" b="1" dirty="0"/>
              <a:t>(</a:t>
            </a:r>
            <a:r>
              <a:rPr lang="en-US" b="1" dirty="0" err="1"/>
              <a:t>ArangoDB</a:t>
            </a:r>
            <a:r>
              <a:rPr lang="en-US" b="1" dirty="0"/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D576AC-0C96-0C2F-A827-DAA21D1562C4}"/>
              </a:ext>
            </a:extLst>
          </p:cNvPr>
          <p:cNvSpPr/>
          <p:nvPr/>
        </p:nvSpPr>
        <p:spPr>
          <a:xfrm>
            <a:off x="4807629" y="7769914"/>
            <a:ext cx="2978571" cy="202146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 Model</a:t>
            </a:r>
          </a:p>
          <a:p>
            <a:pPr algn="ctr"/>
            <a:endParaRPr lang="en-US" dirty="0"/>
          </a:p>
          <a:p>
            <a:pPr algn="ctr"/>
            <a:r>
              <a:rPr lang="en-US" b="1" dirty="0"/>
              <a:t>(</a:t>
            </a:r>
            <a:r>
              <a:rPr lang="en-US" b="1" dirty="0" err="1"/>
              <a:t>SentenceTransformer</a:t>
            </a:r>
            <a:r>
              <a:rPr lang="en-US" b="1" dirty="0"/>
              <a:t>)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A85212-6C5D-170C-69A2-12EFD57A97C3}"/>
              </a:ext>
            </a:extLst>
          </p:cNvPr>
          <p:cNvSpPr/>
          <p:nvPr/>
        </p:nvSpPr>
        <p:spPr>
          <a:xfrm>
            <a:off x="14602087" y="3575982"/>
            <a:ext cx="2667000" cy="16764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endParaRPr lang="en-US" dirty="0"/>
          </a:p>
          <a:p>
            <a:pPr algn="ctr"/>
            <a:r>
              <a:rPr lang="en-US" b="1" dirty="0"/>
              <a:t>DeepSeek-R1-Distill-Llama-8B (4-bit quantized)</a:t>
            </a:r>
          </a:p>
        </p:txBody>
      </p:sp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E7F6556E-798F-503E-EA1A-583DA08F2970}"/>
              </a:ext>
            </a:extLst>
          </p:cNvPr>
          <p:cNvSpPr/>
          <p:nvPr/>
        </p:nvSpPr>
        <p:spPr>
          <a:xfrm>
            <a:off x="9144000" y="5842019"/>
            <a:ext cx="2063088" cy="4316339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DB</a:t>
            </a:r>
          </a:p>
          <a:p>
            <a:pPr algn="ctr"/>
            <a:endParaRPr lang="en-US" dirty="0"/>
          </a:p>
        </p:txBody>
      </p:sp>
      <p:sp>
        <p:nvSpPr>
          <p:cNvPr id="19" name="Frame 18">
            <a:extLst>
              <a:ext uri="{FF2B5EF4-FFF2-40B4-BE49-F238E27FC236}">
                <a16:creationId xmlns:a16="http://schemas.microsoft.com/office/drawing/2014/main" id="{FC3ABF4C-5B5D-41B4-AA7D-EAC6DF5A1D47}"/>
              </a:ext>
            </a:extLst>
          </p:cNvPr>
          <p:cNvSpPr/>
          <p:nvPr/>
        </p:nvSpPr>
        <p:spPr>
          <a:xfrm>
            <a:off x="150631" y="5929109"/>
            <a:ext cx="2667000" cy="1206788"/>
          </a:xfrm>
          <a:prstGeom prst="fram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354637-8AD7-1675-EB75-67F9F188D302}"/>
              </a:ext>
            </a:extLst>
          </p:cNvPr>
          <p:cNvSpPr txBox="1"/>
          <p:nvPr/>
        </p:nvSpPr>
        <p:spPr>
          <a:xfrm>
            <a:off x="720634" y="6227802"/>
            <a:ext cx="1809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Web UI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8BFC65-32C2-B94E-B3DC-3450B36B6B15}"/>
              </a:ext>
            </a:extLst>
          </p:cNvPr>
          <p:cNvSpPr txBox="1"/>
          <p:nvPr/>
        </p:nvSpPr>
        <p:spPr>
          <a:xfrm>
            <a:off x="630686" y="4121156"/>
            <a:ext cx="1674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Question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96F01A64-55D3-FAE9-6080-447A2E7CA168}"/>
              </a:ext>
            </a:extLst>
          </p:cNvPr>
          <p:cNvCxnSpPr/>
          <p:nvPr/>
        </p:nvCxnSpPr>
        <p:spPr>
          <a:xfrm>
            <a:off x="7816680" y="8794847"/>
            <a:ext cx="1388853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Graphic 43" descr="User">
            <a:extLst>
              <a:ext uri="{FF2B5EF4-FFF2-40B4-BE49-F238E27FC236}">
                <a16:creationId xmlns:a16="http://schemas.microsoft.com/office/drawing/2014/main" id="{D5F5B14D-1830-FD6E-B563-BD4CC38AFA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490" y="2455624"/>
            <a:ext cx="1846053" cy="1846053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C299A6EB-9D7B-F71C-3F21-E29E4693AC14}"/>
              </a:ext>
            </a:extLst>
          </p:cNvPr>
          <p:cNvSpPr txBox="1"/>
          <p:nvPr/>
        </p:nvSpPr>
        <p:spPr>
          <a:xfrm>
            <a:off x="9601200" y="9789026"/>
            <a:ext cx="3107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Generated Response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CE49D2E-505D-A9F9-C973-9F70890275F5}"/>
              </a:ext>
            </a:extLst>
          </p:cNvPr>
          <p:cNvCxnSpPr>
            <a:stCxn id="22" idx="2"/>
            <a:endCxn id="19" idx="0"/>
          </p:cNvCxnSpPr>
          <p:nvPr/>
        </p:nvCxnSpPr>
        <p:spPr>
          <a:xfrm>
            <a:off x="1467701" y="4490488"/>
            <a:ext cx="16430" cy="14386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2EBC986-5375-BB2D-E312-55F6027D725B}"/>
              </a:ext>
            </a:extLst>
          </p:cNvPr>
          <p:cNvSpPr/>
          <p:nvPr/>
        </p:nvSpPr>
        <p:spPr>
          <a:xfrm>
            <a:off x="267775" y="8001329"/>
            <a:ext cx="2432712" cy="15240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GraphRAG</a:t>
            </a:r>
            <a:r>
              <a:rPr lang="en-US" sz="2400" dirty="0"/>
              <a:t> System</a:t>
            </a:r>
            <a:endParaRPr lang="en-US" sz="2400" b="1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1483653-3BE4-8D43-D636-FF63AB29ED18}"/>
              </a:ext>
            </a:extLst>
          </p:cNvPr>
          <p:cNvCxnSpPr>
            <a:stCxn id="19" idx="2"/>
            <a:endCxn id="39" idx="0"/>
          </p:cNvCxnSpPr>
          <p:nvPr/>
        </p:nvCxnSpPr>
        <p:spPr>
          <a:xfrm>
            <a:off x="1484131" y="7135897"/>
            <a:ext cx="0" cy="865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C16F9C7-EA83-D1E3-082B-1E585ADD2750}"/>
              </a:ext>
            </a:extLst>
          </p:cNvPr>
          <p:cNvCxnSpPr>
            <a:cxnSpLocks/>
            <a:stCxn id="39" idx="3"/>
            <a:endCxn id="10" idx="1"/>
          </p:cNvCxnSpPr>
          <p:nvPr/>
        </p:nvCxnSpPr>
        <p:spPr>
          <a:xfrm>
            <a:off x="2700487" y="8763329"/>
            <a:ext cx="2107142" cy="17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F49A9C8-0540-2B02-ABB4-6FEAFCE83E5B}"/>
              </a:ext>
            </a:extLst>
          </p:cNvPr>
          <p:cNvSpPr txBox="1"/>
          <p:nvPr/>
        </p:nvSpPr>
        <p:spPr>
          <a:xfrm>
            <a:off x="3065479" y="8425515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Embed Query</a:t>
            </a:r>
            <a:endParaRPr lang="en-IN" dirty="0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9EC2C00-96AB-B4CA-2351-FA38813A3AE4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6296915" y="4191869"/>
            <a:ext cx="0" cy="3578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9B76B52-E31E-96D9-7462-6038F2DF8742}"/>
              </a:ext>
            </a:extLst>
          </p:cNvPr>
          <p:cNvCxnSpPr>
            <a:stCxn id="8" idx="2"/>
            <a:endCxn id="9" idx="3"/>
          </p:cNvCxnSpPr>
          <p:nvPr/>
        </p:nvCxnSpPr>
        <p:spPr>
          <a:xfrm flipH="1">
            <a:off x="7513271" y="3429869"/>
            <a:ext cx="23521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A7020691-1A33-672A-3FEF-650FD87CF4B6}"/>
              </a:ext>
            </a:extLst>
          </p:cNvPr>
          <p:cNvSpPr txBox="1"/>
          <p:nvPr/>
        </p:nvSpPr>
        <p:spPr>
          <a:xfrm>
            <a:off x="4895959" y="5143500"/>
            <a:ext cx="17479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Vectorizing Chunks Collection</a:t>
            </a:r>
            <a:endParaRPr lang="en-IN" sz="20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23EB669-D34F-D889-A2B7-0118A60E6805}"/>
              </a:ext>
            </a:extLst>
          </p:cNvPr>
          <p:cNvSpPr/>
          <p:nvPr/>
        </p:nvSpPr>
        <p:spPr>
          <a:xfrm>
            <a:off x="14284377" y="7668485"/>
            <a:ext cx="3302420" cy="204297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Re-Ranking using </a:t>
            </a:r>
          </a:p>
          <a:p>
            <a:pPr algn="ctr"/>
            <a:r>
              <a:rPr lang="en-US" sz="2000" dirty="0"/>
              <a:t>Cross Encoder </a:t>
            </a:r>
          </a:p>
          <a:p>
            <a:pPr algn="ctr"/>
            <a:r>
              <a:rPr lang="en-US" sz="2000" dirty="0"/>
              <a:t>(</a:t>
            </a:r>
            <a:r>
              <a:rPr lang="en-IN" sz="2000" dirty="0"/>
              <a:t>ms-marco-MiniLM-L-6-v2)</a:t>
            </a:r>
            <a:endParaRPr lang="en-US" sz="2000" b="1" dirty="0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0C3BAA1-15C6-D0F0-1E9C-7594BA4C7C42}"/>
              </a:ext>
            </a:extLst>
          </p:cNvPr>
          <p:cNvCxnSpPr>
            <a:cxnSpLocks/>
            <a:endCxn id="94" idx="1"/>
          </p:cNvCxnSpPr>
          <p:nvPr/>
        </p:nvCxnSpPr>
        <p:spPr>
          <a:xfrm>
            <a:off x="11191848" y="8689971"/>
            <a:ext cx="3092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C68572AD-F37E-B0F9-74CB-F96AEFC481AC}"/>
              </a:ext>
            </a:extLst>
          </p:cNvPr>
          <p:cNvSpPr txBox="1"/>
          <p:nvPr/>
        </p:nvSpPr>
        <p:spPr>
          <a:xfrm>
            <a:off x="11589053" y="8336028"/>
            <a:ext cx="22981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Top-75 </a:t>
            </a:r>
          </a:p>
          <a:p>
            <a:pPr algn="ctr"/>
            <a:r>
              <a:rPr lang="en-US" sz="2000" dirty="0"/>
              <a:t>Semantic Matches</a:t>
            </a:r>
            <a:endParaRPr lang="en-IN" sz="20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B98A05A2-32E3-6931-108D-A02AB4C405B9}"/>
              </a:ext>
            </a:extLst>
          </p:cNvPr>
          <p:cNvCxnSpPr>
            <a:stCxn id="94" idx="0"/>
            <a:endCxn id="11" idx="2"/>
          </p:cNvCxnSpPr>
          <p:nvPr/>
        </p:nvCxnSpPr>
        <p:spPr>
          <a:xfrm flipV="1">
            <a:off x="15935587" y="5252382"/>
            <a:ext cx="0" cy="2416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5A5EE1A1-7384-34C6-8DD1-37328A294F53}"/>
              </a:ext>
            </a:extLst>
          </p:cNvPr>
          <p:cNvSpPr txBox="1"/>
          <p:nvPr/>
        </p:nvSpPr>
        <p:spPr>
          <a:xfrm>
            <a:off x="13350555" y="6071984"/>
            <a:ext cx="25850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dirty="0"/>
              <a:t>Prompt + Query + Retrieved Text </a:t>
            </a:r>
          </a:p>
          <a:p>
            <a:pPr algn="r"/>
            <a:r>
              <a:rPr lang="en-US" sz="1800" i="1" dirty="0"/>
              <a:t>(for Top-3 searches)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96B7C9E5-DD97-F010-D66A-4AACAB85729B}"/>
              </a:ext>
            </a:extLst>
          </p:cNvPr>
          <p:cNvCxnSpPr>
            <a:stCxn id="11" idx="0"/>
          </p:cNvCxnSpPr>
          <p:nvPr/>
        </p:nvCxnSpPr>
        <p:spPr>
          <a:xfrm flipH="1" flipV="1">
            <a:off x="14748318" y="2171700"/>
            <a:ext cx="1187269" cy="1404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E6CB23EF-8594-F4C0-A597-4D8A023555FE}"/>
              </a:ext>
            </a:extLst>
          </p:cNvPr>
          <p:cNvSpPr/>
          <p:nvPr/>
        </p:nvSpPr>
        <p:spPr>
          <a:xfrm>
            <a:off x="13450805" y="1243086"/>
            <a:ext cx="1877512" cy="9286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6720F-A961-D106-9C8C-029FD1557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5727A3-B9AB-0288-C46E-576EA1294A84}"/>
              </a:ext>
            </a:extLst>
          </p:cNvPr>
          <p:cNvSpPr txBox="1"/>
          <p:nvPr/>
        </p:nvSpPr>
        <p:spPr>
          <a:xfrm>
            <a:off x="17586797" y="9456003"/>
            <a:ext cx="114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6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59272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C5D6A3-03F8-583B-2A4B-7326AFB61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469FEB8-6210-D070-307E-F66CFF842A10}"/>
              </a:ext>
            </a:extLst>
          </p:cNvPr>
          <p:cNvSpPr/>
          <p:nvPr/>
        </p:nvSpPr>
        <p:spPr>
          <a:xfrm flipV="1">
            <a:off x="14084162" y="-2200807"/>
            <a:ext cx="6350276" cy="6459014"/>
          </a:xfrm>
          <a:custGeom>
            <a:avLst/>
            <a:gdLst/>
            <a:ahLst/>
            <a:cxnLst/>
            <a:rect l="l" t="t" r="r" b="b"/>
            <a:pathLst>
              <a:path w="6350276" h="6459014">
                <a:moveTo>
                  <a:pt x="0" y="6459014"/>
                </a:moveTo>
                <a:lnTo>
                  <a:pt x="6350276" y="6459014"/>
                </a:lnTo>
                <a:lnTo>
                  <a:pt x="6350276" y="0"/>
                </a:lnTo>
                <a:lnTo>
                  <a:pt x="0" y="0"/>
                </a:lnTo>
                <a:lnTo>
                  <a:pt x="0" y="645901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A25D886-85DB-E1D1-063A-3CE02353399E}"/>
              </a:ext>
            </a:extLst>
          </p:cNvPr>
          <p:cNvSpPr txBox="1"/>
          <p:nvPr/>
        </p:nvSpPr>
        <p:spPr>
          <a:xfrm>
            <a:off x="545544" y="1247775"/>
            <a:ext cx="1275903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0"/>
              </a:lnSpc>
            </a:pPr>
            <a:r>
              <a:rPr lang="en-US" sz="9000" b="1" dirty="0">
                <a:solidFill>
                  <a:srgbClr val="646CAB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Results – </a:t>
            </a:r>
            <a:r>
              <a:rPr lang="en-US" sz="9000" b="1" dirty="0" err="1">
                <a:solidFill>
                  <a:srgbClr val="646CAB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GraphRAG</a:t>
            </a:r>
            <a:endParaRPr lang="en-US" sz="9000" b="1" dirty="0">
              <a:solidFill>
                <a:srgbClr val="646CAB"/>
              </a:solidFill>
              <a:latin typeface="Stinger Fit Bold"/>
              <a:ea typeface="Stinger Fit Bold"/>
              <a:cs typeface="Stinger Fit Bold"/>
              <a:sym typeface="Stinger Fit Bold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F3DE3276-E06F-5FD2-453E-472CBB2E916F}"/>
              </a:ext>
            </a:extLst>
          </p:cNvPr>
          <p:cNvGrpSpPr/>
          <p:nvPr/>
        </p:nvGrpSpPr>
        <p:grpSpPr>
          <a:xfrm>
            <a:off x="1028700" y="-3920529"/>
            <a:ext cx="1393823" cy="4949229"/>
            <a:chOff x="0" y="0"/>
            <a:chExt cx="367097" cy="130350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500CF24-F444-27A8-E1E1-4F157D40E56C}"/>
                </a:ext>
              </a:extLst>
            </p:cNvPr>
            <p:cNvSpPr/>
            <p:nvPr/>
          </p:nvSpPr>
          <p:spPr>
            <a:xfrm>
              <a:off x="0" y="0"/>
              <a:ext cx="367097" cy="1303501"/>
            </a:xfrm>
            <a:custGeom>
              <a:avLst/>
              <a:gdLst/>
              <a:ahLst/>
              <a:cxnLst/>
              <a:rect l="l" t="t" r="r" b="b"/>
              <a:pathLst>
                <a:path w="367097" h="1303501">
                  <a:moveTo>
                    <a:pt x="0" y="0"/>
                  </a:moveTo>
                  <a:lnTo>
                    <a:pt x="367097" y="0"/>
                  </a:lnTo>
                  <a:lnTo>
                    <a:pt x="367097" y="1303501"/>
                  </a:lnTo>
                  <a:lnTo>
                    <a:pt x="0" y="1303501"/>
                  </a:lnTo>
                  <a:close/>
                </a:path>
              </a:pathLst>
            </a:custGeom>
            <a:solidFill>
              <a:srgbClr val="646C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AA4C26C-8D49-13CA-6BC3-BA9B42BFA2B3}"/>
                </a:ext>
              </a:extLst>
            </p:cNvPr>
            <p:cNvSpPr txBox="1"/>
            <p:nvPr/>
          </p:nvSpPr>
          <p:spPr>
            <a:xfrm>
              <a:off x="0" y="-47625"/>
              <a:ext cx="367097" cy="1351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D32D139-8359-E80A-532A-71C3A8B94FF7}"/>
              </a:ext>
            </a:extLst>
          </p:cNvPr>
          <p:cNvSpPr txBox="1"/>
          <p:nvPr/>
        </p:nvSpPr>
        <p:spPr>
          <a:xfrm>
            <a:off x="304800" y="2544068"/>
            <a:ext cx="17373600" cy="14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2774" lvl="1" indent="-342900" algn="l">
              <a:lnSpc>
                <a:spcPts val="3499"/>
              </a:lnSpc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Accuracy – 65%</a:t>
            </a:r>
          </a:p>
          <a:p>
            <a:pPr marL="612774" lvl="1" indent="-342900" algn="l">
              <a:lnSpc>
                <a:spcPts val="3499"/>
              </a:lnSpc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The model exhibits a strong bias towards predicting "yes" (84% recall), which boosts accuracy on the majority class but causes it to frequently miss negative cases and fail almost completely at identifying ambiguous ("maybe") scenarios.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E582E5-B889-ECA5-1306-FDEB6D31B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4545390"/>
            <a:ext cx="5992061" cy="504895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FB34E1A-8905-7FD7-6064-DE99AA6D5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4417663"/>
            <a:ext cx="6225300" cy="527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C3861-4EE2-06E1-578D-413BD2AAE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8507D-ACA2-73F8-46D8-BAAC7445BB98}"/>
              </a:ext>
            </a:extLst>
          </p:cNvPr>
          <p:cNvSpPr txBox="1"/>
          <p:nvPr/>
        </p:nvSpPr>
        <p:spPr>
          <a:xfrm>
            <a:off x="17647920" y="9456003"/>
            <a:ext cx="114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91312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A4CBE9-216C-9793-BB3E-6F57D3216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64580EB-6FD3-9B04-14B3-9E932C853D06}"/>
              </a:ext>
            </a:extLst>
          </p:cNvPr>
          <p:cNvSpPr/>
          <p:nvPr/>
        </p:nvSpPr>
        <p:spPr>
          <a:xfrm flipV="1">
            <a:off x="14084162" y="-2200807"/>
            <a:ext cx="6350276" cy="6459014"/>
          </a:xfrm>
          <a:custGeom>
            <a:avLst/>
            <a:gdLst/>
            <a:ahLst/>
            <a:cxnLst/>
            <a:rect l="l" t="t" r="r" b="b"/>
            <a:pathLst>
              <a:path w="6350276" h="6459014">
                <a:moveTo>
                  <a:pt x="0" y="6459014"/>
                </a:moveTo>
                <a:lnTo>
                  <a:pt x="6350276" y="6459014"/>
                </a:lnTo>
                <a:lnTo>
                  <a:pt x="6350276" y="0"/>
                </a:lnTo>
                <a:lnTo>
                  <a:pt x="0" y="0"/>
                </a:lnTo>
                <a:lnTo>
                  <a:pt x="0" y="645901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6263357-AEB9-9D19-6E19-91257D3E40F9}"/>
              </a:ext>
            </a:extLst>
          </p:cNvPr>
          <p:cNvSpPr txBox="1"/>
          <p:nvPr/>
        </p:nvSpPr>
        <p:spPr>
          <a:xfrm>
            <a:off x="545544" y="1247775"/>
            <a:ext cx="1275903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0"/>
              </a:lnSpc>
            </a:pPr>
            <a:r>
              <a:rPr lang="en-US" sz="9000" b="1" dirty="0">
                <a:solidFill>
                  <a:srgbClr val="646CAB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Result Comparison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6E675F3-C65A-498F-62C3-83E43C48C067}"/>
              </a:ext>
            </a:extLst>
          </p:cNvPr>
          <p:cNvGrpSpPr/>
          <p:nvPr/>
        </p:nvGrpSpPr>
        <p:grpSpPr>
          <a:xfrm>
            <a:off x="1028700" y="-3920529"/>
            <a:ext cx="1393823" cy="4949229"/>
            <a:chOff x="0" y="0"/>
            <a:chExt cx="367097" cy="130350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7FEB651-613D-625F-1B39-00AE8AB2A5EA}"/>
                </a:ext>
              </a:extLst>
            </p:cNvPr>
            <p:cNvSpPr/>
            <p:nvPr/>
          </p:nvSpPr>
          <p:spPr>
            <a:xfrm>
              <a:off x="0" y="0"/>
              <a:ext cx="367097" cy="1303501"/>
            </a:xfrm>
            <a:custGeom>
              <a:avLst/>
              <a:gdLst/>
              <a:ahLst/>
              <a:cxnLst/>
              <a:rect l="l" t="t" r="r" b="b"/>
              <a:pathLst>
                <a:path w="367097" h="1303501">
                  <a:moveTo>
                    <a:pt x="0" y="0"/>
                  </a:moveTo>
                  <a:lnTo>
                    <a:pt x="367097" y="0"/>
                  </a:lnTo>
                  <a:lnTo>
                    <a:pt x="367097" y="1303501"/>
                  </a:lnTo>
                  <a:lnTo>
                    <a:pt x="0" y="1303501"/>
                  </a:lnTo>
                  <a:close/>
                </a:path>
              </a:pathLst>
            </a:custGeom>
            <a:solidFill>
              <a:srgbClr val="646C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06E9854-1BA5-5D4D-EC4A-F6D8BCB69495}"/>
                </a:ext>
              </a:extLst>
            </p:cNvPr>
            <p:cNvSpPr txBox="1"/>
            <p:nvPr/>
          </p:nvSpPr>
          <p:spPr>
            <a:xfrm>
              <a:off x="0" y="-47625"/>
              <a:ext cx="367097" cy="1351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84C606-E53E-797E-5473-22117A134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959619"/>
              </p:ext>
            </p:extLst>
          </p:nvPr>
        </p:nvGraphicFramePr>
        <p:xfrm>
          <a:off x="545544" y="3281680"/>
          <a:ext cx="8065056" cy="49098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16264">
                  <a:extLst>
                    <a:ext uri="{9D8B030D-6E8A-4147-A177-3AD203B41FA5}">
                      <a16:colId xmlns:a16="http://schemas.microsoft.com/office/drawing/2014/main" val="1659022630"/>
                    </a:ext>
                  </a:extLst>
                </a:gridCol>
                <a:gridCol w="2016264">
                  <a:extLst>
                    <a:ext uri="{9D8B030D-6E8A-4147-A177-3AD203B41FA5}">
                      <a16:colId xmlns:a16="http://schemas.microsoft.com/office/drawing/2014/main" val="3248907132"/>
                    </a:ext>
                  </a:extLst>
                </a:gridCol>
                <a:gridCol w="2016264">
                  <a:extLst>
                    <a:ext uri="{9D8B030D-6E8A-4147-A177-3AD203B41FA5}">
                      <a16:colId xmlns:a16="http://schemas.microsoft.com/office/drawing/2014/main" val="2272207897"/>
                    </a:ext>
                  </a:extLst>
                </a:gridCol>
                <a:gridCol w="2016264">
                  <a:extLst>
                    <a:ext uri="{9D8B030D-6E8A-4147-A177-3AD203B41FA5}">
                      <a16:colId xmlns:a16="http://schemas.microsoft.com/office/drawing/2014/main" val="4000245040"/>
                    </a:ext>
                  </a:extLst>
                </a:gridCol>
              </a:tblGrid>
              <a:tr h="98196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Metric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Plain RAG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Graph RAG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Improvement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042653683"/>
                  </a:ext>
                </a:extLst>
              </a:tr>
              <a:tr h="98196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Accuracy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58.00%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65.00%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+12.1%(increase)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684364277"/>
                  </a:ext>
                </a:extLst>
              </a:tr>
              <a:tr h="98196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Total Time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4556.10s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2336.06s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~50% Faster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337834460"/>
                  </a:ext>
                </a:extLst>
              </a:tr>
              <a:tr h="98196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'No' Recall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36%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55%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+52.8%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018966604"/>
                  </a:ext>
                </a:extLst>
              </a:tr>
              <a:tr h="98196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'Yes' Recall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82%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84%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+3.7%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63344406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3869DBA-EBDD-7B54-6D1B-6D8D7CF63141}"/>
              </a:ext>
            </a:extLst>
          </p:cNvPr>
          <p:cNvSpPr txBox="1"/>
          <p:nvPr/>
        </p:nvSpPr>
        <p:spPr>
          <a:xfrm>
            <a:off x="9296400" y="3281680"/>
            <a:ext cx="7467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The transition from Plain RAG to Graph RAG yielded a 12.1% boost in accuracy, primarily driven by a massive 52.8% improvement in identifying negative cases.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While Plain RAG acted as a "Yes-Man"—hallucinating correlations based on keyword overlap—Graph RAG utilized parent-document retrieval to read full conclusions, allowing it to correctly discern when a study explicitly stated, “no significant difference." Effectively, the graph structure turned the model from a simple keyword matcher into a more discerning skeptical reasoner, though both models continue to struggle with ambiguous ("Maybe") classification.</a:t>
            </a:r>
            <a:endParaRPr lang="en-IN" sz="2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8856FD-A60F-3C9F-21A3-EC51372E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8E11A-B83F-8106-31E4-4239DE6C1C04}"/>
              </a:ext>
            </a:extLst>
          </p:cNvPr>
          <p:cNvSpPr txBox="1"/>
          <p:nvPr/>
        </p:nvSpPr>
        <p:spPr>
          <a:xfrm>
            <a:off x="17526000" y="9494103"/>
            <a:ext cx="114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3280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535120" y="-516077"/>
            <a:ext cx="6350276" cy="6459014"/>
          </a:xfrm>
          <a:custGeom>
            <a:avLst/>
            <a:gdLst/>
            <a:ahLst/>
            <a:cxnLst/>
            <a:rect l="l" t="t" r="r" b="b"/>
            <a:pathLst>
              <a:path w="6350276" h="6459014">
                <a:moveTo>
                  <a:pt x="0" y="6459014"/>
                </a:moveTo>
                <a:lnTo>
                  <a:pt x="6350277" y="6459014"/>
                </a:lnTo>
                <a:lnTo>
                  <a:pt x="6350277" y="0"/>
                </a:lnTo>
                <a:lnTo>
                  <a:pt x="0" y="0"/>
                </a:lnTo>
                <a:lnTo>
                  <a:pt x="0" y="645901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8023" y="9000292"/>
            <a:ext cx="1393823" cy="4949229"/>
            <a:chOff x="0" y="0"/>
            <a:chExt cx="367097" cy="13035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7097" cy="1303501"/>
            </a:xfrm>
            <a:custGeom>
              <a:avLst/>
              <a:gdLst/>
              <a:ahLst/>
              <a:cxnLst/>
              <a:rect l="l" t="t" r="r" b="b"/>
              <a:pathLst>
                <a:path w="367097" h="1303501">
                  <a:moveTo>
                    <a:pt x="0" y="0"/>
                  </a:moveTo>
                  <a:lnTo>
                    <a:pt x="367097" y="0"/>
                  </a:lnTo>
                  <a:lnTo>
                    <a:pt x="367097" y="1303501"/>
                  </a:lnTo>
                  <a:lnTo>
                    <a:pt x="0" y="1303501"/>
                  </a:lnTo>
                  <a:close/>
                </a:path>
              </a:pathLst>
            </a:custGeom>
            <a:solidFill>
              <a:srgbClr val="646CA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67097" cy="1351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87970" y="4860620"/>
            <a:ext cx="8501936" cy="3825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98"/>
              </a:lnSpc>
            </a:pPr>
            <a:r>
              <a:rPr lang="en-US" sz="17748" b="1">
                <a:solidFill>
                  <a:srgbClr val="646CAB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73F67-1A60-3654-1E96-F7CC8A5C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886</Words>
  <Application>Microsoft Office PowerPoint</Application>
  <PresentationFormat>Custom</PresentationFormat>
  <Paragraphs>133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Calibri</vt:lpstr>
      <vt:lpstr>Google Sans Text</vt:lpstr>
      <vt:lpstr>Canva Sans</vt:lpstr>
      <vt:lpstr>Arial</vt:lpstr>
      <vt:lpstr>Canva Sans Bold</vt:lpstr>
      <vt:lpstr>Stinger Fit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Modern Sales Report Presentation</dc:title>
  <dc:creator>DELL</dc:creator>
  <cp:lastModifiedBy>Jain, Vardh</cp:lastModifiedBy>
  <cp:revision>20</cp:revision>
  <dcterms:created xsi:type="dcterms:W3CDTF">2006-08-16T00:00:00Z</dcterms:created>
  <dcterms:modified xsi:type="dcterms:W3CDTF">2025-12-05T18:18:35Z</dcterms:modified>
  <dc:identifier>DAG3OuN6sNA</dc:identifier>
</cp:coreProperties>
</file>